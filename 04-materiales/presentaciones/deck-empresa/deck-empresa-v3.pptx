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Abertura. Uma frase: a Deep Blue existe para PMEs que já rodam bem e querem render mais. Nosso ponto de partida é sempre o negócio; a IA entra depois, como ferramenta.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Apresentar as duas frentes como complementares: Labs é o produto contínuo, Consulting é a porta de entrada. Muitos clientes começam no diagnóstico e viram assinante depois.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Itaú/Locomotiva, Sebrae (2024-2025). O dono de PME decide sozinho em 5 áreas; a Deep Blue existe pra tirar peso das costas dele.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Frase do fundador (padrão ouro). Consultoria primeiro, tecnologia depois. Isso diferencia a Deep Blue de quem vende ferramenta pronta sem entender o negócio.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Essas três dores aparecem em quase todo diagnóstico. Use exemplos do cliente real que você está apresentando: troque os genéricos pelas dores específicas dele.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Visão geral antes de aprofundar. As três frentes respondem a três perguntas do cliente: 'onde fica minha operação?', 'quem executa meu processo?', 'quem responde minhas perguntas?'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Blu é o carro-chefe do Labs. Se o cliente tem a operação espalhada em planilha, e-mail e Drive, o Blu centraliza. Demo ao vivo se possível: mostrar busca semântica na sala de estratégia.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Agentes sob medida são o ticket mais alto (implantação + mensalidade). Contar que a Deep Blue usa os próprios agentes para rodar a operação: é vitrine, não teoria.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assistente diário é o 'Hermes do cliente': consulta em linguagem natural, entende o negócio, usa as ferramentas. Demo ideal: fazer a pergunta ao vivo e mostrar a resposta com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coração da proposta: nada de ferramenta sem diagnóstico. Esse é o slide que separa a Deep Blue de quem vende IA pronta. Feche com a frase do fundador.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6 agentes Hermes internos. Quando o cliente perguntar 'isso funciona?', a resposta é: a gente opera assim. Cada proposta que vocês estão vendo foi escrita por um agente.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Fechamento com ação: agendar o diagnóstico gratuito. O CTA real é a reunião de descoberta. Levar contatos: site, Formly, MCP Brain.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731519"/>
            <a:ext cx="5669280" cy="5669280"/>
          </a:xfrm>
          <a:prstGeom prst="ellipse">
            <a:avLst/>
          </a:prstGeom>
          <a:solidFill>
            <a:srgbClr val="E4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71992" y="1496872"/>
            <a:ext cx="4138574" cy="4138574"/>
          </a:xfrm>
          <a:prstGeom prst="ellipse">
            <a:avLst/>
          </a:prstGeom>
          <a:solidFill>
            <a:srgbClr val="D0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5692" y="2290572"/>
            <a:ext cx="2551176" cy="2551176"/>
          </a:xfrm>
          <a:prstGeom prst="ellipse">
            <a:avLst/>
          </a:prstGeom>
          <a:solidFill>
            <a:srgbClr val="B3C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31044" y="3055924"/>
            <a:ext cx="1020470" cy="1020470"/>
          </a:xfrm>
          <a:prstGeom prst="ellipse">
            <a:avLst/>
          </a:prstGeom>
          <a:solidFill>
            <a:srgbClr val="8FA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502920"/>
            <a:ext cx="652881" cy="652881"/>
          </a:xfrm>
          <a:prstGeom prst="ellipse">
            <a:avLst/>
          </a:prstGeom>
          <a:solidFill>
            <a:srgbClr val="D0D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28219" y="591059"/>
            <a:ext cx="476603" cy="476603"/>
          </a:xfrm>
          <a:prstGeom prst="ellipse">
            <a:avLst/>
          </a:prstGeom>
          <a:solidFill>
            <a:srgbClr val="AFB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9622" y="682462"/>
            <a:ext cx="293796" cy="293796"/>
          </a:xfrm>
          <a:prstGeom prst="ellipse">
            <a:avLst/>
          </a:prstGeom>
          <a:solidFill>
            <a:srgbClr val="5D7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07761" y="770601"/>
            <a:ext cx="117518" cy="11751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39265" y="5303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01828"/>
                </a:solidFill>
                <a:latin typeface="Instrument Serif"/>
              </a:rPr>
              <a:t>Deep </a:t>
            </a:r>
            <a:r>
              <a:rPr sz="1550" b="0" i="1">
                <a:solidFill>
                  <a:srgbClr val="5B6472"/>
                </a:solidFill>
                <a:latin typeface="Instrument Serif"/>
              </a:rPr>
              <a:t>Blue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148840"/>
            <a:ext cx="502920" cy="411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95728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  <a:latin typeface="JetBrains Mono"/>
              </a:rPr>
              <a:t>INTELIGÊNCIA ARTIFICIAL COMO FERRAMENTA DE NEGÓCIO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7863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4000" b="1" i="0">
                <a:solidFill>
                  <a:srgbClr val="101828"/>
                </a:solidFill>
                <a:latin typeface="Plus Jakarta Sans"/>
              </a:rPr>
              <a:t>Sua operação já funciona.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4000" b="1" i="0">
                <a:solidFill>
                  <a:srgbClr val="101828"/>
                </a:solidFill>
                <a:latin typeface="Plus Jakarta Sans"/>
              </a:rPr>
              <a:t>A IA pode ser o que falta para ela </a:t>
            </a:r>
            <a:r>
              <a:rPr sz="4000" b="0" i="1">
                <a:solidFill>
                  <a:srgbClr val="1D4ED8"/>
                </a:solidFill>
                <a:latin typeface="Instrument Serif"/>
              </a:rPr>
              <a:t>render mais.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20640"/>
            <a:ext cx="7132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5B6472"/>
                </a:solidFill>
                <a:latin typeface="Inter"/>
              </a:rPr>
              <a:t>Entregamos sistemas que agregam valor, com resultado mensurável. </a:t>
            </a:r>
            <a:r>
              <a:rPr sz="1500" b="1" i="0">
                <a:solidFill>
                  <a:srgbClr val="101828"/>
                </a:solidFill>
                <a:latin typeface="Inter"/>
              </a:rPr>
              <a:t>Consultoria primeiro. Tecnologia depois.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263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472"/>
                </a:solidFill>
                <a:latin typeface="Inter"/>
              </a:rPr>
              <a:t>deepblue.company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384048"/>
            <a:ext cx="559612" cy="559612"/>
          </a:xfrm>
          <a:prstGeom prst="ellipse">
            <a:avLst/>
          </a:prstGeom>
          <a:solidFill>
            <a:srgbClr val="D0D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5627" y="459595"/>
            <a:ext cx="408517" cy="408517"/>
          </a:xfrm>
          <a:prstGeom prst="ellipse">
            <a:avLst/>
          </a:prstGeom>
          <a:solidFill>
            <a:srgbClr val="AFB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3973" y="537941"/>
            <a:ext cx="251825" cy="251825"/>
          </a:xfrm>
          <a:prstGeom prst="ellipse">
            <a:avLst/>
          </a:prstGeom>
          <a:solidFill>
            <a:srgbClr val="5D7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9521" y="613489"/>
            <a:ext cx="100730" cy="10073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45996" y="41147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01828"/>
                </a:solidFill>
                <a:latin typeface="Instrument Serif"/>
              </a:rPr>
              <a:t>Deep </a:t>
            </a:r>
            <a:r>
              <a:rPr sz="1550" b="0" i="1">
                <a:solidFill>
                  <a:srgbClr val="5B6472"/>
                </a:solidFill>
                <a:latin typeface="Instrument Serif"/>
              </a:rPr>
              <a:t>Blue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JetBrains Mono"/>
              </a:rPr>
              <a:t>A EMPRESA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26464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01828"/>
                </a:solidFill>
                <a:latin typeface="Plus Jakarta Sans"/>
              </a:rPr>
              <a:t>A Deep Blue ajuda empresas a usar IA como</a:t>
            </a:r>
            <a:r>
              <a:rPr sz="2700" b="0" i="1">
                <a:solidFill>
                  <a:srgbClr val="1D4ED8"/>
                </a:solidFill>
                <a:latin typeface="Instrument Serif"/>
              </a:rPr>
              <a:t> ferramenta de negócio.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871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B6472"/>
                </a:solidFill>
                <a:latin typeface="Inter"/>
              </a:rPr>
              <a:t>Fundada para um perfil específico: PMEs que já rodam bem e querem render mais. Duas frentes, uma lógica — entender o negócio antes de propor tecnologia.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00400"/>
            <a:ext cx="530352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474720"/>
            <a:ext cx="1660550" cy="292608"/>
          </a:xfrm>
          <a:prstGeom prst="roundRect">
            <a:avLst/>
          </a:prstGeom>
          <a:solidFill>
            <a:srgbClr val="ED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538727"/>
            <a:ext cx="144109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  <a:latin typeface="JetBrains Mono"/>
              </a:rPr>
              <a:t>LABS · ASSINATURA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1363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01828"/>
                </a:solidFill>
                <a:latin typeface="Plus Jakarta Sans"/>
              </a:rPr>
              <a:t>Deep Blue Labs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34840"/>
            <a:ext cx="4754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Produtos em assinatura. Plataforma Blu, agentes de IA e assistentes que centralizam conhecimento e automatizam o dia a dia.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3200400"/>
            <a:ext cx="5303520" cy="2331720"/>
          </a:xfrm>
          <a:prstGeom prst="roundRect">
            <a:avLst/>
          </a:prstGeom>
          <a:solidFill>
            <a:srgbClr val="10182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19672" y="3474720"/>
            <a:ext cx="2465222" cy="292608"/>
          </a:xfrm>
          <a:prstGeom prst="roundRect">
            <a:avLst/>
          </a:prstGeom>
          <a:solidFill>
            <a:srgbClr val="1B2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3538727"/>
            <a:ext cx="22457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  <a:latin typeface="JetBrains Mono"/>
              </a:rPr>
              <a:t>CONSULTING · ESCOPO FECHADO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391363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2F2F0"/>
                </a:solidFill>
                <a:latin typeface="Plus Jakarta Sans"/>
              </a:rPr>
              <a:t>Deep Blue Consulting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4434840"/>
            <a:ext cx="4754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B8BEC9"/>
                </a:solidFill>
                <a:latin typeface="Inter"/>
              </a:rPr>
              <a:t>Projetos de diagnóstico e estratégia. Mapeamos processos, identificamos onde a IA agrega valor e priorizamos casos de uso.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E2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B6472"/>
                </a:solidFill>
                <a:latin typeface="Inter"/>
              </a:rPr>
              <a:t>Deep Blue · deepblue.company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537960"/>
            <a:ext cx="10332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472"/>
                </a:solidFill>
                <a:latin typeface="Inter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384048"/>
            <a:ext cx="559612" cy="559612"/>
          </a:xfrm>
          <a:prstGeom prst="ellipse">
            <a:avLst/>
          </a:prstGeom>
          <a:solidFill>
            <a:srgbClr val="D0D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5627" y="459595"/>
            <a:ext cx="408517" cy="408517"/>
          </a:xfrm>
          <a:prstGeom prst="ellipse">
            <a:avLst/>
          </a:prstGeom>
          <a:solidFill>
            <a:srgbClr val="AFB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3973" y="537941"/>
            <a:ext cx="251825" cy="251825"/>
          </a:xfrm>
          <a:prstGeom prst="ellipse">
            <a:avLst/>
          </a:prstGeom>
          <a:solidFill>
            <a:srgbClr val="5D7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9521" y="613489"/>
            <a:ext cx="100730" cy="10073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45996" y="41147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01828"/>
                </a:solidFill>
                <a:latin typeface="Instrument Serif"/>
              </a:rPr>
              <a:t>Deep </a:t>
            </a:r>
            <a:r>
              <a:rPr sz="1550" b="0" i="1">
                <a:solidFill>
                  <a:srgbClr val="5B6472"/>
                </a:solidFill>
                <a:latin typeface="Instrument Serif"/>
              </a:rPr>
              <a:t>Blue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JetBrains Mono"/>
              </a:rPr>
              <a:t>O CONTEXTO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26464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800" b="1" i="0">
                <a:solidFill>
                  <a:srgbClr val="101828"/>
                </a:solidFill>
                <a:latin typeface="Plus Jakarta Sans"/>
              </a:rPr>
              <a:t>PMEs rodam o país. E o dono decide</a:t>
            </a:r>
            <a:r>
              <a:rPr sz="2800" b="0" i="1">
                <a:solidFill>
                  <a:srgbClr val="1D4ED8"/>
                </a:solidFill>
                <a:latin typeface="Instrument Serif"/>
              </a:rPr>
              <a:t> sozinho.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871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B6472"/>
                </a:solidFill>
                <a:latin typeface="Inter"/>
              </a:rPr>
              <a:t>Dados de mercado que explicam por que a IA vira ferramenta — e não brinquedo.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00400"/>
            <a:ext cx="3429000" cy="2697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93008"/>
            <a:ext cx="2880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1D4ED8"/>
                </a:solidFill>
                <a:latin typeface="Plus Jakarta Sans"/>
              </a:rPr>
              <a:t>90%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2880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dos líderes de PMEs tomam decisões sozinhos em 5 áreas diferentes, sem apoio estruturado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53212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3"/>
                </a:solidFill>
                <a:latin typeface="Inter"/>
              </a:rPr>
              <a:t>Itaú · Locomotiva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200400"/>
            <a:ext cx="3429000" cy="2697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3493008"/>
            <a:ext cx="2880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1D4ED8"/>
                </a:solidFill>
                <a:latin typeface="Plus Jakarta Sans"/>
              </a:rPr>
              <a:t>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4343400"/>
            <a:ext cx="2880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do PIB brasileiro é movido por PMEs, que respondem por metade dos empregos ativos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553212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3"/>
                </a:solidFill>
                <a:latin typeface="Inter"/>
              </a:rPr>
              <a:t>Sebrae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3200400"/>
            <a:ext cx="3429000" cy="2697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493008"/>
            <a:ext cx="2880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1D4ED8"/>
                </a:solidFill>
                <a:latin typeface="Plus Jakarta Sans"/>
              </a:rPr>
              <a:t>9 em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343400"/>
            <a:ext cx="2880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PMEs relatam dificuldade na gestão financeira do dia a dia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553212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3"/>
                </a:solidFill>
                <a:latin typeface="Inter"/>
              </a:rPr>
              <a:t>Pesquisa Sebrae 2024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E2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B6472"/>
                </a:solidFill>
                <a:latin typeface="Inter"/>
              </a:rPr>
              <a:t>Deep Blue · deepblue.company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37960"/>
            <a:ext cx="10332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472"/>
                </a:solidFill>
                <a:latin typeface="Inter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384048"/>
            <a:ext cx="559612" cy="559612"/>
          </a:xfrm>
          <a:prstGeom prst="ellipse">
            <a:avLst/>
          </a:prstGeom>
          <a:solidFill>
            <a:srgbClr val="D0D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5627" y="459595"/>
            <a:ext cx="408517" cy="408517"/>
          </a:xfrm>
          <a:prstGeom prst="ellipse">
            <a:avLst/>
          </a:prstGeom>
          <a:solidFill>
            <a:srgbClr val="AFB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3973" y="537941"/>
            <a:ext cx="251825" cy="251825"/>
          </a:xfrm>
          <a:prstGeom prst="ellipse">
            <a:avLst/>
          </a:prstGeom>
          <a:solidFill>
            <a:srgbClr val="5D7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9521" y="613489"/>
            <a:ext cx="100730" cy="10073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45996" y="41147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01828"/>
                </a:solidFill>
                <a:latin typeface="Instrument Serif"/>
              </a:rPr>
              <a:t>Deep </a:t>
            </a:r>
            <a:r>
              <a:rPr sz="1550" b="0" i="1">
                <a:solidFill>
                  <a:srgbClr val="5B6472"/>
                </a:solidFill>
                <a:latin typeface="Instrument Serif"/>
              </a:rPr>
              <a:t>Blue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JetBrains Mono"/>
              </a:rPr>
              <a:t>MÉTODO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26464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01828"/>
                </a:solidFill>
                <a:latin typeface="Plus Jakarta Sans"/>
              </a:rPr>
              <a:t>Não começamos pela tecnologia. Começamos pelo</a:t>
            </a:r>
            <a:r>
              <a:rPr sz="2700" b="0" i="1">
                <a:solidFill>
                  <a:srgbClr val="1D4ED8"/>
                </a:solidFill>
                <a:latin typeface="Instrument Serif"/>
              </a:rPr>
              <a:t> negócio.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08960"/>
            <a:ext cx="3429000" cy="2697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83279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9AA3B2"/>
                </a:solidFill>
                <a:latin typeface="JetBrains Mon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8620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01828"/>
                </a:solidFill>
                <a:latin typeface="Plus Jakarta Sans"/>
              </a:rPr>
              <a:t>Escutar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34840"/>
            <a:ext cx="2880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Entrevistas com as pessoas, não só com os dados. As dores aparecem no dia a dia, não no relatório.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108960"/>
            <a:ext cx="3429000" cy="2697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3383279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9AA3B2"/>
                </a:solidFill>
                <a:latin typeface="JetBrains Mono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88620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01828"/>
                </a:solidFill>
                <a:latin typeface="Plus Jakarta Sans"/>
              </a:rPr>
              <a:t>Entender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4434840"/>
            <a:ext cx="2880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Processos, decisões, gargalos. Onde o tempo some e onde o conhecimento fica preso.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3108960"/>
            <a:ext cx="3429000" cy="2697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383279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9AA3B2"/>
                </a:solidFill>
                <a:latin typeface="JetBrains Mon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88620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01828"/>
                </a:solidFill>
                <a:latin typeface="Plus Jakarta Sans"/>
              </a:rPr>
              <a:t>Mapear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434840"/>
            <a:ext cx="2880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Oportunidades priorizadas por impacto e viabilidade. O diagnóstico vira um mapa, não um laudo.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101828"/>
                </a:solidFill>
                <a:latin typeface="Inter"/>
              </a:rPr>
              <a:t>Todo projeto de IA começa com pessoas: escutamos as dores do cliente, entendemos o processo e mapeamos oportunidades.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E2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B6472"/>
                </a:solidFill>
                <a:latin typeface="Inter"/>
              </a:rPr>
              <a:t>Deep Blue · deepblue.company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37960"/>
            <a:ext cx="10332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472"/>
                </a:solidFill>
                <a:latin typeface="Inter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384048"/>
            <a:ext cx="559612" cy="559612"/>
          </a:xfrm>
          <a:prstGeom prst="ellipse">
            <a:avLst/>
          </a:prstGeom>
          <a:solidFill>
            <a:srgbClr val="D0D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5627" y="459595"/>
            <a:ext cx="408517" cy="408517"/>
          </a:xfrm>
          <a:prstGeom prst="ellipse">
            <a:avLst/>
          </a:prstGeom>
          <a:solidFill>
            <a:srgbClr val="AFB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3973" y="537941"/>
            <a:ext cx="251825" cy="251825"/>
          </a:xfrm>
          <a:prstGeom prst="ellipse">
            <a:avLst/>
          </a:prstGeom>
          <a:solidFill>
            <a:srgbClr val="5D7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9521" y="613489"/>
            <a:ext cx="100730" cy="10073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45996" y="41147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01828"/>
                </a:solidFill>
                <a:latin typeface="Instrument Serif"/>
              </a:rPr>
              <a:t>Deep </a:t>
            </a:r>
            <a:r>
              <a:rPr sz="1550" b="0" i="1">
                <a:solidFill>
                  <a:srgbClr val="5B6472"/>
                </a:solidFill>
                <a:latin typeface="Instrument Serif"/>
              </a:rPr>
              <a:t>Blue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JetBrains Mono"/>
              </a:rPr>
              <a:t>O QUE ENCONTRAMOS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26464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600" b="1" i="0">
                <a:solidFill>
                  <a:srgbClr val="101828"/>
                </a:solidFill>
                <a:latin typeface="Plus Jakarta Sans"/>
              </a:rPr>
              <a:t>As dores se repetem: conhecimento preso, decisão</a:t>
            </a:r>
            <a:r>
              <a:rPr sz="2600" b="0" i="1">
                <a:solidFill>
                  <a:srgbClr val="1D4ED8"/>
                </a:solidFill>
                <a:latin typeface="Instrument Serif"/>
              </a:rPr>
              <a:t> solitária,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01828"/>
                </a:solidFill>
                <a:latin typeface="Plus Jakarta Sans"/>
              </a:rPr>
              <a:t>processo manual.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43200"/>
            <a:ext cx="3429000" cy="3246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3035808"/>
            <a:ext cx="68580" cy="6858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271" y="3035808"/>
            <a:ext cx="68580" cy="6858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2144" y="3035808"/>
            <a:ext cx="68580" cy="6858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64992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01828"/>
                </a:solidFill>
                <a:latin typeface="Plus Jakarta Sans"/>
              </a:rPr>
              <a:t>Conhecimento espalhado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50208"/>
            <a:ext cx="2880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Documentos, planilhas e SOPs em lugares diferentes. O que a equipe sabe não vira ativo da empresa.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2743200"/>
            <a:ext cx="3429000" cy="3246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17720" y="3035808"/>
            <a:ext cx="68580" cy="6858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36592" y="3035808"/>
            <a:ext cx="68580" cy="6858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55464" y="3035808"/>
            <a:ext cx="68580" cy="6858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3364992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01828"/>
                </a:solidFill>
                <a:latin typeface="Plus Jakarta Sans"/>
              </a:rPr>
              <a:t>Decisão solitária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3950208"/>
            <a:ext cx="2880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O dono decide sozinho, sem ter os números na mão no momento da decisão. Tudo depende da cabeça dele.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19" y="2743200"/>
            <a:ext cx="3429000" cy="3246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21040" y="3035808"/>
            <a:ext cx="68580" cy="6858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39912" y="3035808"/>
            <a:ext cx="68580" cy="6858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58784" y="3035808"/>
            <a:ext cx="68580" cy="6858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364992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01828"/>
                </a:solidFill>
                <a:latin typeface="Plus Jakarta Sans"/>
              </a:rPr>
              <a:t>Trabalho manual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950208"/>
            <a:ext cx="2880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O tempo que poderia gerar negócio é gasto repetindo o mesmo processo. Cada proposta, cada relatório, do zero.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E2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B6472"/>
                </a:solidFill>
                <a:latin typeface="Inter"/>
              </a:rPr>
              <a:t>Deep Blue · deepblue.company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537960"/>
            <a:ext cx="10332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472"/>
                </a:solidFill>
                <a:latin typeface="Inter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384048"/>
            <a:ext cx="559612" cy="559612"/>
          </a:xfrm>
          <a:prstGeom prst="ellipse">
            <a:avLst/>
          </a:prstGeom>
          <a:solidFill>
            <a:srgbClr val="D0D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5627" y="459595"/>
            <a:ext cx="408517" cy="408517"/>
          </a:xfrm>
          <a:prstGeom prst="ellipse">
            <a:avLst/>
          </a:prstGeom>
          <a:solidFill>
            <a:srgbClr val="AFB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3973" y="537941"/>
            <a:ext cx="251825" cy="251825"/>
          </a:xfrm>
          <a:prstGeom prst="ellipse">
            <a:avLst/>
          </a:prstGeom>
          <a:solidFill>
            <a:srgbClr val="5D7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9521" y="613489"/>
            <a:ext cx="100730" cy="10073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45996" y="41147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01828"/>
                </a:solidFill>
                <a:latin typeface="Instrument Serif"/>
              </a:rPr>
              <a:t>Deep </a:t>
            </a:r>
            <a:r>
              <a:rPr sz="1550" b="0" i="1">
                <a:solidFill>
                  <a:srgbClr val="5B6472"/>
                </a:solidFill>
                <a:latin typeface="Instrument Serif"/>
              </a:rPr>
              <a:t>Blue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JetBrains Mono"/>
              </a:rPr>
              <a:t>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26464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800" b="1" i="0">
                <a:solidFill>
                  <a:srgbClr val="101828"/>
                </a:solidFill>
                <a:latin typeface="Plus Jakarta Sans"/>
              </a:rPr>
              <a:t>Ferramentas de IA a serviço do seu</a:t>
            </a:r>
            <a:r>
              <a:rPr sz="2800" b="0" i="1">
                <a:solidFill>
                  <a:srgbClr val="1D4ED8"/>
                </a:solidFill>
                <a:latin typeface="Instrument Serif"/>
              </a:rPr>
              <a:t> negócio.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871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B6472"/>
                </a:solidFill>
                <a:latin typeface="Inter"/>
              </a:rPr>
              <a:t>Três frentes. Todas inseridas nos pontos de impacto que o diagnóstico revelou.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00400"/>
            <a:ext cx="3429000" cy="2651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493008"/>
            <a:ext cx="1691640" cy="292608"/>
          </a:xfrm>
          <a:prstGeom prst="roundRect">
            <a:avLst/>
          </a:prstGeom>
          <a:solidFill>
            <a:srgbClr val="ED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557015"/>
            <a:ext cx="14721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  <a:latin typeface="JetBrains Mono"/>
              </a:rPr>
              <a:t>PLATAFORMA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2880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Sistemas completos: documentos, conhecimento e agentes de IA num ambiente só. A operação centralizada.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532120"/>
            <a:ext cx="457200" cy="411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43400" y="3200400"/>
            <a:ext cx="3429000" cy="2651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17720" y="3493008"/>
            <a:ext cx="1691640" cy="292608"/>
          </a:xfrm>
          <a:prstGeom prst="roundRect">
            <a:avLst/>
          </a:prstGeom>
          <a:solidFill>
            <a:srgbClr val="ED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27448" y="3557015"/>
            <a:ext cx="14721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  <a:latin typeface="JetBrains Mono"/>
              </a:rPr>
              <a:t>FLUXOS DE AGENTES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069080"/>
            <a:ext cx="2880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Processos automatizados com agentes integrados aos sistemas que o cliente já usa. Cada um na sua função.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5532120"/>
            <a:ext cx="457200" cy="411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19" y="3200400"/>
            <a:ext cx="3429000" cy="2651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21040" y="3493008"/>
            <a:ext cx="1691640" cy="292608"/>
          </a:xfrm>
          <a:prstGeom prst="roundRect">
            <a:avLst/>
          </a:prstGeom>
          <a:solidFill>
            <a:srgbClr val="ED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0767" y="3557015"/>
            <a:ext cx="14721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  <a:latin typeface="JetBrains Mono"/>
              </a:rPr>
              <a:t>ASSISTENTE DIÁRIO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069080"/>
            <a:ext cx="2880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Um agente que entende o negócio e responde em linguagem natural. Perguntou, resolveu — com contexto.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5532120"/>
            <a:ext cx="457200" cy="411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E2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B6472"/>
                </a:solidFill>
                <a:latin typeface="Inter"/>
              </a:rPr>
              <a:t>Deep Blue · deepblue.company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537960"/>
            <a:ext cx="10332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472"/>
                </a:solidFill>
                <a:latin typeface="Inter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384048"/>
            <a:ext cx="559612" cy="559612"/>
          </a:xfrm>
          <a:prstGeom prst="ellipse">
            <a:avLst/>
          </a:prstGeom>
          <a:solidFill>
            <a:srgbClr val="D0D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5627" y="459595"/>
            <a:ext cx="408517" cy="408517"/>
          </a:xfrm>
          <a:prstGeom prst="ellipse">
            <a:avLst/>
          </a:prstGeom>
          <a:solidFill>
            <a:srgbClr val="AFB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3973" y="537941"/>
            <a:ext cx="251825" cy="251825"/>
          </a:xfrm>
          <a:prstGeom prst="ellipse">
            <a:avLst/>
          </a:prstGeom>
          <a:solidFill>
            <a:srgbClr val="5D7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9521" y="613489"/>
            <a:ext cx="100730" cy="10073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45996" y="41147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01828"/>
                </a:solidFill>
                <a:latin typeface="Instrument Serif"/>
              </a:rPr>
              <a:t>Deep </a:t>
            </a:r>
            <a:r>
              <a:rPr sz="1550" b="0" i="1">
                <a:solidFill>
                  <a:srgbClr val="5B6472"/>
                </a:solidFill>
                <a:latin typeface="Instrument Serif"/>
              </a:rPr>
              <a:t>Blue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JetBrains Mono"/>
              </a:rPr>
              <a:t>CAPABILITY · PLATAFORMA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26464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01828"/>
                </a:solidFill>
                <a:latin typeface="Plus Jakarta Sans"/>
              </a:rPr>
              <a:t>Plataforma Blu. O escritório virtual da sua</a:t>
            </a:r>
            <a:r>
              <a:rPr sz="2700" b="0" i="1">
                <a:solidFill>
                  <a:srgbClr val="1D4ED8"/>
                </a:solidFill>
                <a:latin typeface="Instrument Serif"/>
              </a:rPr>
              <a:t> empresa.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871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B6472"/>
                </a:solidFill>
                <a:latin typeface="Inter"/>
              </a:rPr>
              <a:t>Um ambiente só para o que hoje está espalhado: documentos, conhecimento e agentes.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00400"/>
            <a:ext cx="5303520" cy="13533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832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01828"/>
                </a:solidFill>
                <a:latin typeface="Plus Jakarta Sans"/>
              </a:rPr>
              <a:t>Agentes de 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4754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Trabalham nos seus processos: atendimento, documentos, relatórios, rotinas.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3200400"/>
            <a:ext cx="5303520" cy="13533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33832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01828"/>
                </a:solidFill>
                <a:latin typeface="Plus Jakarta Sans"/>
              </a:rPr>
              <a:t>Pipeline de documentos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3803904"/>
            <a:ext cx="4754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Do lead ao contrato, tudo num fluxo único e rastreável.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681728"/>
            <a:ext cx="5303520" cy="13533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6460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01828"/>
                </a:solidFill>
                <a:latin typeface="Plus Jakarta Sans"/>
              </a:rPr>
              <a:t>Sala de estratégia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85232"/>
            <a:ext cx="4754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Busca semântica no conhecimento da empresa. Pergunta em linguagem natural, resposta com contexto.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3912" y="4681728"/>
            <a:ext cx="5303520" cy="13533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486460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01828"/>
                </a:solidFill>
                <a:latin typeface="Plus Jakarta Sans"/>
              </a:rPr>
              <a:t>Gestão de conhecimento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5285232"/>
            <a:ext cx="4754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O que a equipe sabe vira ativo da empresa — acessível, não preso na cabeça de ninguém.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E2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B6472"/>
                </a:solidFill>
                <a:latin typeface="Inter"/>
              </a:rPr>
              <a:t>Deep Blue · deepblue.company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37960"/>
            <a:ext cx="10332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472"/>
                </a:solidFill>
                <a:latin typeface="Inter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384048"/>
            <a:ext cx="559612" cy="559612"/>
          </a:xfrm>
          <a:prstGeom prst="ellipse">
            <a:avLst/>
          </a:prstGeom>
          <a:solidFill>
            <a:srgbClr val="D0D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5627" y="459595"/>
            <a:ext cx="408517" cy="408517"/>
          </a:xfrm>
          <a:prstGeom prst="ellipse">
            <a:avLst/>
          </a:prstGeom>
          <a:solidFill>
            <a:srgbClr val="AFB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3973" y="537941"/>
            <a:ext cx="251825" cy="251825"/>
          </a:xfrm>
          <a:prstGeom prst="ellipse">
            <a:avLst/>
          </a:prstGeom>
          <a:solidFill>
            <a:srgbClr val="5D7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9521" y="613489"/>
            <a:ext cx="100730" cy="10073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45996" y="41147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01828"/>
                </a:solidFill>
                <a:latin typeface="Instrument Serif"/>
              </a:rPr>
              <a:t>Deep </a:t>
            </a:r>
            <a:r>
              <a:rPr sz="1550" b="0" i="1">
                <a:solidFill>
                  <a:srgbClr val="5B6472"/>
                </a:solidFill>
                <a:latin typeface="Instrument Serif"/>
              </a:rPr>
              <a:t>Blue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JetBrains Mono"/>
              </a:rPr>
              <a:t>CAPABILITY · AGENTES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26464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01828"/>
                </a:solidFill>
                <a:latin typeface="Plus Jakarta Sans"/>
              </a:rPr>
              <a:t>Agentes que trabalham dentro do seu</a:t>
            </a:r>
            <a:r>
              <a:rPr sz="2700" b="0" i="1">
                <a:solidFill>
                  <a:srgbClr val="1D4ED8"/>
                </a:solidFill>
                <a:latin typeface="Instrument Serif"/>
              </a:rPr>
              <a:t> processo.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871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B6472"/>
                </a:solidFill>
                <a:latin typeface="Inter"/>
              </a:rPr>
              <a:t>Implantados nos sistemas que o cliente já usa. Cada um com uma função clara.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00400"/>
            <a:ext cx="5303520" cy="13533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832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D4ED8"/>
                </a:solidFill>
                <a:latin typeface="Plus Jakarta Sans"/>
              </a:rPr>
              <a:t>TalentFlow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4754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RH — triagem de currículos, agendamento, onboarding, análise de turnover.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3200400"/>
            <a:ext cx="5303520" cy="13533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33832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D4ED8"/>
                </a:solidFill>
                <a:latin typeface="Plus Jakarta Sans"/>
              </a:rPr>
              <a:t>KnowledgeBase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3803904"/>
            <a:ext cx="4754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Conhecimento — respostas com o contexto da empresa, não texto genérico.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681728"/>
            <a:ext cx="5303520" cy="13533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6460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D4ED8"/>
                </a:solidFill>
                <a:latin typeface="Plus Jakarta Sans"/>
              </a:rPr>
              <a:t>ProjectPilot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85232"/>
            <a:ext cx="4754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Projetos — prazos, riscos, status. O PM que não dorme.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3912" y="4681728"/>
            <a:ext cx="5303520" cy="13533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486460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D4ED8"/>
                </a:solidFill>
                <a:latin typeface="Plus Jakarta Sans"/>
              </a:rPr>
              <a:t>OpsFlow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5285232"/>
            <a:ext cx="4754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Operações — rotinas e fluxos internos automatizados.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101828"/>
                </a:solidFill>
                <a:latin typeface="Inter"/>
              </a:rPr>
              <a:t>Nossa operação roda com 6 agentes assim. A mesma tecnologia que entregamos para clientes.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E2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B6472"/>
                </a:solidFill>
                <a:latin typeface="Inter"/>
              </a:rPr>
              <a:t>Deep Blue · deepblue.company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537960"/>
            <a:ext cx="10332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472"/>
                </a:solidFill>
                <a:latin typeface="Inter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384048"/>
            <a:ext cx="559612" cy="559612"/>
          </a:xfrm>
          <a:prstGeom prst="ellipse">
            <a:avLst/>
          </a:prstGeom>
          <a:solidFill>
            <a:srgbClr val="D0D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5627" y="459595"/>
            <a:ext cx="408517" cy="408517"/>
          </a:xfrm>
          <a:prstGeom prst="ellipse">
            <a:avLst/>
          </a:prstGeom>
          <a:solidFill>
            <a:srgbClr val="AFB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3973" y="537941"/>
            <a:ext cx="251825" cy="251825"/>
          </a:xfrm>
          <a:prstGeom prst="ellipse">
            <a:avLst/>
          </a:prstGeom>
          <a:solidFill>
            <a:srgbClr val="5D7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9521" y="613489"/>
            <a:ext cx="100730" cy="10073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45996" y="41147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01828"/>
                </a:solidFill>
                <a:latin typeface="Instrument Serif"/>
              </a:rPr>
              <a:t>Deep </a:t>
            </a:r>
            <a:r>
              <a:rPr sz="1550" b="0" i="1">
                <a:solidFill>
                  <a:srgbClr val="5B6472"/>
                </a:solidFill>
                <a:latin typeface="Instrument Serif"/>
              </a:rPr>
              <a:t>Blue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JetBrains Mono"/>
              </a:rPr>
              <a:t>CAPABILITY · ASSISTENTE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26464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600" b="1" i="0">
                <a:solidFill>
                  <a:srgbClr val="101828"/>
                </a:solidFill>
                <a:latin typeface="Plus Jakarta Sans"/>
              </a:rPr>
              <a:t>Pergunte em linguagem natural. Ele entende o seu</a:t>
            </a:r>
            <a:r>
              <a:rPr sz="2600" b="0" i="1">
                <a:solidFill>
                  <a:srgbClr val="1D4ED8"/>
                </a:solidFill>
                <a:latin typeface="Instrument Serif"/>
              </a:rPr>
              <a:t> negócio.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871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B6472"/>
                </a:solidFill>
                <a:latin typeface="Inter"/>
              </a:rPr>
              <a:t>Um assistente diário — um Hermes trabalhando para você, com o contexto da empresa.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00400"/>
            <a:ext cx="6766560" cy="2697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456432"/>
            <a:ext cx="6217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01828"/>
                </a:solidFill>
                <a:latin typeface="Plus Jakarta Sans"/>
              </a:rPr>
              <a:t>1 · Entende o contexto  </a:t>
            </a:r>
            <a:r>
              <a:rPr sz="1300" b="0" i="0">
                <a:solidFill>
                  <a:srgbClr val="5B6472"/>
                </a:solidFill>
                <a:latin typeface="Inter"/>
              </a:rPr>
              <a:t>Processo, gargalos e histórico da empresa. Não responde no vácuo.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279392"/>
            <a:ext cx="6217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01828"/>
                </a:solidFill>
                <a:latin typeface="Plus Jakarta Sans"/>
              </a:rPr>
              <a:t>2 · Consulta as ferramentas por você  </a:t>
            </a:r>
            <a:r>
              <a:rPr sz="1300" b="0" i="0">
                <a:solidFill>
                  <a:srgbClr val="5B6472"/>
                </a:solidFill>
                <a:latin typeface="Inter"/>
              </a:rPr>
              <a:t>Busca nos documentos, puxa os números, executa rotinas.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102352"/>
            <a:ext cx="6217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01828"/>
                </a:solidFill>
                <a:latin typeface="Plus Jakarta Sans"/>
              </a:rPr>
              <a:t>3 · Responde com contexto  </a:t>
            </a:r>
            <a:r>
              <a:rPr sz="1300" b="0" i="0">
                <a:solidFill>
                  <a:srgbClr val="5B6472"/>
                </a:solidFill>
                <a:latin typeface="Inter"/>
              </a:rPr>
              <a:t>Resposta com a cara do seu negócio — não texto genérico de 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3200400"/>
            <a:ext cx="3867912" cy="2697480"/>
          </a:xfrm>
          <a:prstGeom prst="roundRect">
            <a:avLst/>
          </a:prstGeom>
          <a:solidFill>
            <a:srgbClr val="F8F9FC"/>
          </a:solidFill>
          <a:ln w="9525">
            <a:solidFill>
              <a:srgbClr val="D6DE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01000" y="3493008"/>
            <a:ext cx="960120" cy="292608"/>
          </a:xfrm>
          <a:prstGeom prst="roundRect">
            <a:avLst/>
          </a:prstGeom>
          <a:solidFill>
            <a:srgbClr val="ED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0727" y="3557015"/>
            <a:ext cx="7406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  <a:latin typeface="JetBrains Mono"/>
              </a:rPr>
              <a:t>EXEMPLO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3977639"/>
            <a:ext cx="3291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 b="0" i="1">
                <a:solidFill>
                  <a:srgbClr val="101828"/>
                </a:solidFill>
                <a:latin typeface="Instrument Serif"/>
              </a:rPr>
              <a:t>“Quantas propostas foram enviadas este mês e quais estão paradas há mais de uma semana?”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250" b="0" i="0">
                <a:solidFill>
                  <a:srgbClr val="5B6472"/>
                </a:solidFill>
                <a:latin typeface="Inter"/>
              </a:rPr>
              <a:t>→ Busca, cruza e responde com os números da casa.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E2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B6472"/>
                </a:solidFill>
                <a:latin typeface="Inter"/>
              </a:rPr>
              <a:t>Deep Blue · deepblue.company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37960"/>
            <a:ext cx="10332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472"/>
                </a:solidFill>
                <a:latin typeface="Inter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384048"/>
            <a:ext cx="559612" cy="559612"/>
          </a:xfrm>
          <a:prstGeom prst="ellipse">
            <a:avLst/>
          </a:prstGeom>
          <a:solidFill>
            <a:srgbClr val="D0D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5627" y="459595"/>
            <a:ext cx="408517" cy="408517"/>
          </a:xfrm>
          <a:prstGeom prst="ellipse">
            <a:avLst/>
          </a:prstGeom>
          <a:solidFill>
            <a:srgbClr val="AFB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3973" y="537941"/>
            <a:ext cx="251825" cy="251825"/>
          </a:xfrm>
          <a:prstGeom prst="ellipse">
            <a:avLst/>
          </a:prstGeom>
          <a:solidFill>
            <a:srgbClr val="5D7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9521" y="613489"/>
            <a:ext cx="100730" cy="10073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45996" y="41147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01828"/>
                </a:solidFill>
                <a:latin typeface="Instrument Serif"/>
              </a:rPr>
              <a:t>Deep </a:t>
            </a:r>
            <a:r>
              <a:rPr sz="1550" b="0" i="1">
                <a:solidFill>
                  <a:srgbClr val="5B6472"/>
                </a:solidFill>
                <a:latin typeface="Instrument Serif"/>
              </a:rPr>
              <a:t>Blue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JetBrains Mono"/>
              </a:rPr>
              <a:t>COMO ENTRA A TECNOLOGIA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26464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01828"/>
                </a:solidFill>
                <a:latin typeface="Plus Jakarta Sans"/>
              </a:rPr>
              <a:t>Diagnóstico primeiro. Ferramentas nos pontos de</a:t>
            </a:r>
            <a:r>
              <a:rPr sz="2700" b="0" i="1">
                <a:solidFill>
                  <a:srgbClr val="1D4ED8"/>
                </a:solidFill>
                <a:latin typeface="Instrument Serif"/>
              </a:rPr>
              <a:t> impacto.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871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B6472"/>
                </a:solidFill>
                <a:latin typeface="Inter"/>
              </a:rPr>
              <a:t>Entendemos as dores do cliente e inserimos as ferramentas exatamente onde elas mudam o dia a dia.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00400"/>
            <a:ext cx="530352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474720"/>
            <a:ext cx="2011680" cy="292608"/>
          </a:xfrm>
          <a:prstGeom prst="roundRect">
            <a:avLst/>
          </a:prstGeom>
          <a:solidFill>
            <a:srgbClr val="ED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538727"/>
            <a:ext cx="17922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  <a:latin typeface="JetBrains Mono"/>
              </a:rPr>
              <a:t>1 · DIAGNÓSTICO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23360"/>
            <a:ext cx="4754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5B6472"/>
                </a:solidFill>
                <a:latin typeface="Inter"/>
              </a:rPr>
              <a:t>Gargalos e dores mapeados com o cliente: onde o tempo some, onde a decisão trava, onde o conhecimento fica preso.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840480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D4ED8"/>
                </a:solidFill>
                <a:latin typeface="Plus Jakarta San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59752" y="3200400"/>
            <a:ext cx="438912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34072" y="3474720"/>
            <a:ext cx="2011680" cy="292608"/>
          </a:xfrm>
          <a:prstGeom prst="roundRect">
            <a:avLst/>
          </a:prstGeom>
          <a:solidFill>
            <a:srgbClr val="ED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3538727"/>
            <a:ext cx="17922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  <a:latin typeface="JetBrains Mono"/>
              </a:rPr>
              <a:t>2 · INSERÇÃO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34072" y="4023360"/>
            <a:ext cx="4754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5B6472"/>
                </a:solidFill>
                <a:latin typeface="Inter"/>
              </a:rPr>
              <a:t>Ferramentas de IA nos pontos de impacto do diagnóstico. Cada uma responde a uma dor mapeada.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101828"/>
                </a:solidFill>
                <a:latin typeface="Inter"/>
              </a:rPr>
              <a:t>A IA é uma poderosa ferramenta que usamos para impactar o diagnóstico que fizemos.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E2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B6472"/>
                </a:solidFill>
                <a:latin typeface="Inter"/>
              </a:rPr>
              <a:t>Deep Blue · deepblue.company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537960"/>
            <a:ext cx="10332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472"/>
                </a:solidFill>
                <a:latin typeface="Inter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384048"/>
            <a:ext cx="559612" cy="559612"/>
          </a:xfrm>
          <a:prstGeom prst="ellipse">
            <a:avLst/>
          </a:prstGeom>
          <a:solidFill>
            <a:srgbClr val="D0D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5627" y="459595"/>
            <a:ext cx="408517" cy="408517"/>
          </a:xfrm>
          <a:prstGeom prst="ellipse">
            <a:avLst/>
          </a:prstGeom>
          <a:solidFill>
            <a:srgbClr val="AFB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3973" y="537941"/>
            <a:ext cx="251825" cy="251825"/>
          </a:xfrm>
          <a:prstGeom prst="ellipse">
            <a:avLst/>
          </a:prstGeom>
          <a:solidFill>
            <a:srgbClr val="5D7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9521" y="613489"/>
            <a:ext cx="100730" cy="10073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45996" y="41147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01828"/>
                </a:solidFill>
                <a:latin typeface="Instrument Serif"/>
              </a:rPr>
              <a:t>Deep </a:t>
            </a:r>
            <a:r>
              <a:rPr sz="1550" b="0" i="1">
                <a:solidFill>
                  <a:srgbClr val="5B6472"/>
                </a:solidFill>
                <a:latin typeface="Instrument Serif"/>
              </a:rPr>
              <a:t>Blue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JetBrains Mono"/>
              </a:rPr>
              <a:t>PROVA VIVA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26464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01828"/>
                </a:solidFill>
                <a:latin typeface="Plus Jakarta Sans"/>
              </a:rPr>
              <a:t>Usamos o que</a:t>
            </a:r>
            <a:r>
              <a:rPr sz="3000" b="0" i="1">
                <a:solidFill>
                  <a:srgbClr val="1D4ED8"/>
                </a:solidFill>
                <a:latin typeface="Instrument Serif"/>
              </a:rPr>
              <a:t> vendemos.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871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B6472"/>
                </a:solidFill>
                <a:latin typeface="Inter"/>
              </a:rPr>
              <a:t>Nossa operação roda com agentes de IA. A mesma tecnologia que entregamos para clientes.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00400"/>
            <a:ext cx="3429000" cy="12618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64992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4ED8"/>
                </a:solidFill>
                <a:latin typeface="Plus Jakarta Sans"/>
              </a:rPr>
              <a:t>Hermes Writer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85615"/>
            <a:ext cx="2880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6472"/>
                </a:solidFill>
                <a:latin typeface="Inter"/>
              </a:rPr>
              <a:t>Propostas, documentação, conteúdo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200400"/>
            <a:ext cx="3429000" cy="12618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3364992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4ED8"/>
                </a:solidFill>
                <a:latin typeface="Plus Jakarta Sans"/>
              </a:rPr>
              <a:t>Hermes PM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785615"/>
            <a:ext cx="2880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6472"/>
                </a:solidFill>
                <a:latin typeface="Inter"/>
              </a:rPr>
              <a:t>Cronogramas, riscos, status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3200400"/>
            <a:ext cx="3429000" cy="12618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3364992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4ED8"/>
                </a:solidFill>
                <a:latin typeface="Plus Jakarta Sans"/>
              </a:rPr>
              <a:t>Hermes Sales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785615"/>
            <a:ext cx="2880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6472"/>
                </a:solidFill>
                <a:latin typeface="Inter"/>
              </a:rPr>
              <a:t>Leads, follow-ups, pipeline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590288"/>
            <a:ext cx="3429000" cy="12618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54879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4ED8"/>
                </a:solidFill>
                <a:latin typeface="Plus Jakarta Sans"/>
              </a:rPr>
              <a:t>Hermes Dev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175503"/>
            <a:ext cx="2880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6472"/>
                </a:solidFill>
                <a:latin typeface="Inter"/>
              </a:rPr>
              <a:t>Código, code review, testes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4590288"/>
            <a:ext cx="3429000" cy="12618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4754879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4ED8"/>
                </a:solidFill>
                <a:latin typeface="Plus Jakarta Sans"/>
              </a:rPr>
              <a:t>Hermes Legal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5175503"/>
            <a:ext cx="2880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6472"/>
                </a:solidFill>
                <a:latin typeface="Inter"/>
              </a:rPr>
              <a:t>Contratos e compliance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4590288"/>
            <a:ext cx="3429000" cy="12618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754879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4ED8"/>
                </a:solidFill>
                <a:latin typeface="Plus Jakarta Sans"/>
              </a:rPr>
              <a:t>Hermes Finance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5175503"/>
            <a:ext cx="2880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6472"/>
                </a:solidFill>
                <a:latin typeface="Inter"/>
              </a:rPr>
              <a:t>Fluxo de caixa e margem por projeto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E2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B6472"/>
                </a:solidFill>
                <a:latin typeface="Inter"/>
              </a:rPr>
              <a:t>Deep Blue · deepblue.company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537960"/>
            <a:ext cx="10332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472"/>
                </a:solidFill>
                <a:latin typeface="Inter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457200"/>
            <a:ext cx="4023360" cy="4023360"/>
          </a:xfrm>
          <a:prstGeom prst="ellipse">
            <a:avLst/>
          </a:prstGeom>
          <a:solidFill>
            <a:srgbClr val="E4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55633" y="85953"/>
            <a:ext cx="2937052" cy="2937052"/>
          </a:xfrm>
          <a:prstGeom prst="ellipse">
            <a:avLst/>
          </a:prstGeom>
          <a:solidFill>
            <a:srgbClr val="D0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18904" y="649223"/>
            <a:ext cx="1810512" cy="1810512"/>
          </a:xfrm>
          <a:prstGeom prst="ellipse">
            <a:avLst/>
          </a:prstGeom>
          <a:solidFill>
            <a:srgbClr val="B3C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62057" y="1192377"/>
            <a:ext cx="724204" cy="724204"/>
          </a:xfrm>
          <a:prstGeom prst="ellipse">
            <a:avLst/>
          </a:prstGeom>
          <a:solidFill>
            <a:srgbClr val="8FA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384048"/>
            <a:ext cx="559612" cy="559612"/>
          </a:xfrm>
          <a:prstGeom prst="ellipse">
            <a:avLst/>
          </a:prstGeom>
          <a:solidFill>
            <a:srgbClr val="D0D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5627" y="459595"/>
            <a:ext cx="408517" cy="408517"/>
          </a:xfrm>
          <a:prstGeom prst="ellipse">
            <a:avLst/>
          </a:prstGeom>
          <a:solidFill>
            <a:srgbClr val="AFB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3973" y="537941"/>
            <a:ext cx="251825" cy="251825"/>
          </a:xfrm>
          <a:prstGeom prst="ellipse">
            <a:avLst/>
          </a:prstGeom>
          <a:solidFill>
            <a:srgbClr val="5D7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9521" y="613489"/>
            <a:ext cx="100730" cy="10073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45996" y="41147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01828"/>
                </a:solidFill>
                <a:latin typeface="Instrument Serif"/>
              </a:rPr>
              <a:t>Deep </a:t>
            </a:r>
            <a:r>
              <a:rPr sz="1550" b="0" i="1">
                <a:solidFill>
                  <a:srgbClr val="5B6472"/>
                </a:solidFill>
                <a:latin typeface="Instrument Serif"/>
              </a:rPr>
              <a:t>Blue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07899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JetBrains Mono"/>
              </a:rPr>
              <a:t>PRÓXIMOS PASSOS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426464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01828"/>
                </a:solidFill>
                <a:latin typeface="Plus Jakarta Sans"/>
              </a:rPr>
              <a:t>Conta o seu desafio. A gente mapeia onde a IA</a:t>
            </a:r>
            <a:r>
              <a:rPr sz="2700" b="0" i="1">
                <a:solidFill>
                  <a:srgbClr val="1D4ED8"/>
                </a:solidFill>
                <a:latin typeface="Instrument Serif"/>
              </a:rPr>
              <a:t> agrega.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08960"/>
            <a:ext cx="342900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83279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9AA3B2"/>
                </a:solidFill>
                <a:latin typeface="JetBrains Mono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50208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01828"/>
                </a:solidFill>
                <a:latin typeface="Plus Jakarta Sans"/>
              </a:rPr>
              <a:t>Diagnóstico gratuito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80560"/>
            <a:ext cx="2880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Entendemos seu processo e suas dores. Sem compromisso, sem fórmula pronta.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108960"/>
            <a:ext cx="342900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3383279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9AA3B2"/>
                </a:solidFill>
                <a:latin typeface="JetBrains Mono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950208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01828"/>
                </a:solidFill>
                <a:latin typeface="Plus Jakarta Sans"/>
              </a:rPr>
              <a:t>Mapa de impacto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480560"/>
            <a:ext cx="2880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Onde a IA agrega valor no seu negócio, com priorização por impacto e viabilidade.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19" y="3108960"/>
            <a:ext cx="342900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3383279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9AA3B2"/>
                </a:solidFill>
                <a:latin typeface="JetBrains Mono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950208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01828"/>
                </a:solidFill>
                <a:latin typeface="Plus Jakarta Sans"/>
              </a:rPr>
              <a:t>Proposta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480560"/>
            <a:ext cx="2880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Ferramentas nos pontos de impacto, com resultado mensurável e cronograma.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472"/>
                </a:solidFill>
                <a:latin typeface="Inter"/>
              </a:rPr>
              <a:t>deepblue.company  ·  </a:t>
            </a:r>
            <a:r>
              <a:rPr sz="1300" b="1" i="0">
                <a:solidFill>
                  <a:srgbClr val="1D4ED8"/>
                </a:solidFill>
                <a:latin typeface="Inter"/>
              </a:rPr>
              <a:t>formly.ink</a:t>
            </a:r>
            <a:r>
              <a:rPr sz="1300" b="0" i="0">
                <a:solidFill>
                  <a:srgbClr val="5B6472"/>
                </a:solidFill>
                <a:latin typeface="Inter"/>
              </a:rPr>
              <a:t>  ·  </a:t>
            </a:r>
            <a:r>
              <a:rPr sz="1300" b="1" i="0">
                <a:solidFill>
                  <a:srgbClr val="1D4ED8"/>
                </a:solidFill>
                <a:latin typeface="Inter"/>
              </a:rPr>
              <a:t>app.mcp-brain.com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E2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B6472"/>
                </a:solidFill>
                <a:latin typeface="Inter"/>
              </a:rPr>
              <a:t>Deep Blue · deepblue.company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537960"/>
            <a:ext cx="10332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472"/>
                </a:solidFill>
                <a:latin typeface="Inter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